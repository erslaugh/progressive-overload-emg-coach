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af51068cdb4856" /><Relationship Type="http://schemas.openxmlformats.org/officeDocument/2006/relationships/extended-properties" Target="/docProps/app.xml" Id="Rc66e3faad28f448a" /><Relationship Type="http://schemas.openxmlformats.org/officeDocument/2006/relationships/officeDocument" Target="/ppt/presentation.xml" Id="Rc5c782f0acba4a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7830d7c9a04238"/>
  </p:sldMasterIdLst>
  <p:notesMasterIdLst>
    <p:notesMasterId xmlns:r="http://schemas.openxmlformats.org/officeDocument/2006/relationships" r:id="Rbc728ce8598d433f"/>
  </p:notesMasterIdLst>
  <p:sldIdLst>
    <p:sldId xmlns:r="http://schemas.openxmlformats.org/officeDocument/2006/relationships" id="256" r:id="R8d48711b809042a9"/>
    <p:sldId xmlns:r="http://schemas.openxmlformats.org/officeDocument/2006/relationships" id="257" r:id="R2bf3406797224647"/>
    <p:sldId xmlns:r="http://schemas.openxmlformats.org/officeDocument/2006/relationships" id="258" r:id="R96fb5def303b4f35"/>
    <p:sldId xmlns:r="http://schemas.openxmlformats.org/officeDocument/2006/relationships" id="259" r:id="Rbf8afc41201346eb"/>
    <p:sldId xmlns:r="http://schemas.openxmlformats.org/officeDocument/2006/relationships" id="260" r:id="R53bdd1c389944afb"/>
    <p:sldId xmlns:r="http://schemas.openxmlformats.org/officeDocument/2006/relationships" id="261" r:id="Rae0b5f84928145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903cc2567348f5" /><Relationship Type="http://schemas.openxmlformats.org/officeDocument/2006/relationships/slideMaster" Target="/ppt/slideMasters/slideMaster1.xml" Id="R377830d7c9a04238" /><Relationship Type="http://schemas.openxmlformats.org/officeDocument/2006/relationships/notesMaster" Target="/ppt/notesMasters/notesMaster1.xml" Id="Rbc728ce8598d433f" /><Relationship Type="http://schemas.openxmlformats.org/officeDocument/2006/relationships/presProps" Target="/ppt/presProps.xml" Id="Rc2e5d8339ed144a0" /><Relationship Type="http://schemas.openxmlformats.org/officeDocument/2006/relationships/tableStyles" Target="/ppt/tableStyles.xml" Id="R14f9653d0bc3450d" /><Relationship Type="http://schemas.openxmlformats.org/officeDocument/2006/relationships/slide" Target="/ppt/slides/slide1.xml" Id="R8d48711b809042a9" /><Relationship Type="http://schemas.openxmlformats.org/officeDocument/2006/relationships/slide" Target="/ppt/slides/slide2.xml" Id="R2bf3406797224647" /><Relationship Type="http://schemas.openxmlformats.org/officeDocument/2006/relationships/slide" Target="/ppt/slides/slide3.xml" Id="R96fb5def303b4f35" /><Relationship Type="http://schemas.openxmlformats.org/officeDocument/2006/relationships/slide" Target="/ppt/slides/slide4.xml" Id="Rbf8afc41201346eb" /><Relationship Type="http://schemas.openxmlformats.org/officeDocument/2006/relationships/slide" Target="/ppt/slides/slide5.xml" Id="R53bdd1c389944afb" /><Relationship Type="http://schemas.openxmlformats.org/officeDocument/2006/relationships/slide" Target="/ppt/slides/slide6.xml" Id="Rae0b5f84928145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52c09ea96144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76f52bdb6f475d" /><Relationship Type="http://schemas.openxmlformats.org/officeDocument/2006/relationships/notesMaster" Target="/ppt/notesMasters/notesMaster1.xml" Id="Rd0ca0508ab624d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870bd0909145c4" /><Relationship Type="http://schemas.openxmlformats.org/officeDocument/2006/relationships/notesMaster" Target="/ppt/notesMasters/notesMaster1.xml" Id="R36ca5811318d46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daf39425584cd6" /><Relationship Type="http://schemas.openxmlformats.org/officeDocument/2006/relationships/notesMaster" Target="/ppt/notesMasters/notesMaster1.xml" Id="R33e034c102a34d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92c81d951b4a89" /><Relationship Type="http://schemas.openxmlformats.org/officeDocument/2006/relationships/notesMaster" Target="/ppt/notesMasters/notesMaster1.xml" Id="R652250195e0742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0233337dfe48b3" /><Relationship Type="http://schemas.openxmlformats.org/officeDocument/2006/relationships/notesMaster" Target="/ppt/notesMasters/notesMaster1.xml" Id="R3e199967a65b49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f95c32ec4244af" /><Relationship Type="http://schemas.openxmlformats.org/officeDocument/2006/relationships/notesMaster" Target="/ppt/notesMasters/notesMaster1.xml" Id="Rebd5a8e2db6a48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in one sentence: most trackers count what happened; this coach estimates how hard the muscle worked.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prototype data and project specifications.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simple example: two people can complete the same weight and reps while having very different reps remaining.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prototype data and project specifications.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EMG and phone recordings can start at different times. The software aligns their activity patterns, detects working reps, and rejects synchronization or partial movements.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prototype data and project specifications.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system separates the immediate set decision from the next-workout load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prototype data and project specifications.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these as prototype results. The ±1.72 RIR value comes from leave-one-set-out testing on the three calibration 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Subject 1 calibration trials: 15 lb, 4 reps at 5 RIR; 7 reps at 3 RIR; 13 reps at 0 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showing the desired real-time user experience. The immediate validation goal is prediction within approximately ±2 RIR and correct identification of the near-failure zone.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prototype data and project specifications.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180dd0b0c4e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dc9949e20c4bf9" /><Relationship Type="http://schemas.openxmlformats.org/officeDocument/2006/relationships/slideLayout" Target="/ppt/slideLayouts/slideLayout1.xml" Id="R0860fe9f99e14d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60fe9f99e14d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72ffa197b4603" /><Relationship Type="http://schemas.openxmlformats.org/officeDocument/2006/relationships/notesSlide" Target="/ppt/notesSlides/notesSlide1.xml" Id="R6c6fb1cf14cd48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bab1ce4d24e7d" /><Relationship Type="http://schemas.openxmlformats.org/officeDocument/2006/relationships/notesSlide" Target="/ppt/notesSlides/notesSlide2.xml" Id="Rf43c6ea7c9d340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bf9551dff4476" /><Relationship Type="http://schemas.openxmlformats.org/officeDocument/2006/relationships/notesSlide" Target="/ppt/notesSlides/notesSlide3.xml" Id="R53181fcc62f346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7d3e2f2f24d09" /><Relationship Type="http://schemas.openxmlformats.org/officeDocument/2006/relationships/notesSlide" Target="/ppt/notesSlides/notesSlide4.xml" Id="Rc763603aabdf48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3f15f47f84a7c" /><Relationship Type="http://schemas.openxmlformats.org/officeDocument/2006/relationships/chart" Target="/ppt/slides/charts/chart1.xml" Id="R8d286419e142403a" /><Relationship Type="http://schemas.openxmlformats.org/officeDocument/2006/relationships/notesSlide" Target="/ppt/notesSlides/notesSlide5.xml" Id="R6d183dde8bd94b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f64de29a54a6e" /><Relationship Type="http://schemas.openxmlformats.org/officeDocument/2006/relationships/notesSlide" Target="/ppt/notesSlides/notesSlide6.xml" Id="R4d9a3446535c4fa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Completed reps</c:v>
          </c:tx>
          <c:spPr>
            <a:solidFill xmlns:a="http://schemas.openxmlformats.org/drawingml/2006/main">
              <a:srgbClr val="2F80ED"/>
            </a:solidFill>
          </c:spPr>
          <c:cat>
            <c:strLit>
              <c:ptCount val="3"/>
              <c:pt idx="0">
                <c:v>Easy
5 RIR</c:v>
              </c:pt>
              <c:pt idx="1">
                <c:v>Moderate
3 RIR</c:v>
              </c:pt>
              <c:pt idx="2">
                <c:v>Failure
0 RIR</c:v>
              </c:pt>
            </c:strLit>
          </c:cat>
          <c:val>
            <c:numLit>
              <c:formatCode>General</c:formatCode>
              <c:ptCount val="3"/>
              <c:pt idx="0">
                <c:v>4</c:v>
              </c:pt>
              <c:pt idx="1">
                <c:v>7</c:v>
              </c:pt>
              <c:pt idx="2">
                <c:v>13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2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Completed repetitions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">
            <a:extLst xmlns:a="http://schemas.openxmlformats.org/drawingml/2006/main">
              <a:ext uri="{FF2B5EF4-FFF2-40B4-BE49-F238E27FC236}">
                <a16:creationId xmlns:a16="http://schemas.microsoft.com/office/drawing/2014/main" id="{D83028E2-5A60-4FC8-AF6F-05926C6E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HACKATHON PROTOTYPE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BAE3BD6-E508-465F-B807-EDE5E304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781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EMG Progressive</a:t>
            </a:r>
          </a:p>
          <a:p xmlns:a="http://schemas.openxmlformats.org/drawingml/2006/main">
            <a:pPr algn="l">
              <a:defRPr sz="55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Overload Coach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FA833B2-E12C-4B31-8B4A-F43AEFAD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862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Measures muscle activity and movement to estimate reps in reserve—and turn effort into a clear training decision.</a:t>
            </a:r>
          </a:p>
        </p:txBody>
      </p:sp>
      <p:sp>
        <p:nvSpPr>
          <p:cNvPr id="4" name="accent-block">
            <a:extLst xmlns:a="http://schemas.openxmlformats.org/drawingml/2006/main">
              <a:ext uri="{FF2B5EF4-FFF2-40B4-BE49-F238E27FC236}">
                <a16:creationId xmlns:a16="http://schemas.microsoft.com/office/drawing/2014/main" id="{4B55A997-6C8F-48A0-A56B-06182F82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ccent-copy">
            <a:extLst xmlns:a="http://schemas.openxmlformats.org/drawingml/2006/main">
              <a:ext uri="{FF2B5EF4-FFF2-40B4-BE49-F238E27FC236}">
                <a16:creationId xmlns:a16="http://schemas.microsoft.com/office/drawing/2014/main" id="{D3407495-3E36-4FB6-89CA-CAF9CCC3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00250"/>
            <a:ext cx="20574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EMG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PHONE IMU</a:t>
            </a:r>
          </a:p>
        </p:txBody>
      </p:sp>
    </p:spTree>
    <p:extLst>
      <p:ext uri="{BB962C8B-B14F-4D97-AF65-F5344CB8AC3E}">
        <p14:creationId xmlns:p14="http://schemas.microsoft.com/office/powerpoint/2010/main" val="10599112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9BB455-5495-4D28-BA33-ABF1FDA7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34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same workout can represent very different effort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82E28AB-2FE5-49DB-81C9-BA6FEBFE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A476DC70-DE50-4AB2-A047-DAEED37F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Traditional tracking sees only the external work.</a:t>
            </a:r>
          </a:p>
        </p:txBody>
      </p:sp>
      <p:sp>
        <p:nvSpPr>
          <p:cNvPr id="4" name="left">
            <a:extLst xmlns:a="http://schemas.openxmlformats.org/drawingml/2006/main">
              <a:ext uri="{FF2B5EF4-FFF2-40B4-BE49-F238E27FC236}">
                <a16:creationId xmlns:a16="http://schemas.microsoft.com/office/drawing/2014/main" id="{A23361DD-D46D-4957-B9F2-1BCD1F2F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5143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eft-head">
            <a:extLst xmlns:a="http://schemas.openxmlformats.org/drawingml/2006/main">
              <a:ext uri="{FF2B5EF4-FFF2-40B4-BE49-F238E27FC236}">
                <a16:creationId xmlns:a16="http://schemas.microsoft.com/office/drawing/2014/main" id="{ED1084C3-8586-4DCE-9764-201B9D27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What trackers see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98226DFC-48E7-4284-8832-589E10D8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15 lb</a:t>
            </a:r>
          </a:p>
          <a:p xmlns:a="http://schemas.openxmlformats.org/drawingml/2006/main">
            <a:pPr algn="l">
              <a:defRPr sz="25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 repetitions</a:t>
            </a:r>
          </a:p>
          <a:p xmlns:a="http://schemas.openxmlformats.org/drawingml/2006/main">
            <a:pPr algn="l">
              <a:defRPr sz="25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Same exercise</a:t>
            </a:r>
          </a:p>
        </p:txBody>
      </p:sp>
      <p:sp>
        <p:nvSpPr>
          <p:cNvPr id="7" name="right">
            <a:extLst xmlns:a="http://schemas.openxmlformats.org/drawingml/2006/main">
              <a:ext uri="{FF2B5EF4-FFF2-40B4-BE49-F238E27FC236}">
                <a16:creationId xmlns:a16="http://schemas.microsoft.com/office/drawing/2014/main" id="{F038F28A-4901-42ED-B10E-29533114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33600"/>
            <a:ext cx="5143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5636A059-7A76-4D7A-97A9-821F04C0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What the coach adds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E66603E8-A20F-493B-8B4A-2E2FF033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419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Muscle activation</a:t>
            </a:r>
          </a:p>
          <a:p xmlns:a="http://schemas.openxmlformats.org/drawingml/2006/main">
            <a:pPr algn="l">
              <a:defRPr sz="25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Movement quality</a:t>
            </a:r>
          </a:p>
          <a:p xmlns:a="http://schemas.openxmlformats.org/drawingml/2006/main">
            <a:pPr algn="l">
              <a:defRPr sz="255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Estimated RIR</a:t>
            </a:r>
          </a:p>
        </p:txBody>
      </p:sp>
      <p:sp>
        <p:nvSpPr>
          <p:cNvPr id="10" name="bottom">
            <a:extLst xmlns:a="http://schemas.openxmlformats.org/drawingml/2006/main">
              <a:ext uri="{FF2B5EF4-FFF2-40B4-BE49-F238E27FC236}">
                <a16:creationId xmlns:a16="http://schemas.microsoft.com/office/drawing/2014/main" id="{5579887A-B067-46FB-8577-FF89EDCA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08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Goal: recommend whether to continue, stop, maintain the load, or progress it next time.</a:t>
            </a:r>
          </a:p>
        </p:txBody>
      </p:sp>
    </p:spTree>
    <p:extLst>
      <p:ext uri="{BB962C8B-B14F-4D97-AF65-F5344CB8AC3E}">
        <p14:creationId xmlns:p14="http://schemas.microsoft.com/office/powerpoint/2010/main" val="9995382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7E38A3-99F1-48D4-B1E6-C8B1D7E3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26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Two sensors capture internal effort and external performance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7219DF-ACFF-465D-979C-3E5B5267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emg-box">
            <a:extLst xmlns:a="http://schemas.openxmlformats.org/drawingml/2006/main">
              <a:ext uri="{FF2B5EF4-FFF2-40B4-BE49-F238E27FC236}">
                <a16:creationId xmlns:a16="http://schemas.microsoft.com/office/drawing/2014/main" id="{D7E7804B-B456-4B59-BD48-76F5ABCA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mg-title">
            <a:extLst xmlns:a="http://schemas.openxmlformats.org/drawingml/2006/main">
              <a:ext uri="{FF2B5EF4-FFF2-40B4-BE49-F238E27FC236}">
                <a16:creationId xmlns:a16="http://schemas.microsoft.com/office/drawing/2014/main" id="{909022D3-5390-4C14-8214-2B92213D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Biceps EMG</a:t>
            </a:r>
          </a:p>
        </p:txBody>
      </p:sp>
      <p:sp>
        <p:nvSpPr>
          <p:cNvPr id="5" name="emg-copy">
            <a:extLst xmlns:a="http://schemas.openxmlformats.org/drawingml/2006/main">
              <a:ext uri="{FF2B5EF4-FFF2-40B4-BE49-F238E27FC236}">
                <a16:creationId xmlns:a16="http://schemas.microsoft.com/office/drawing/2014/main" id="{4CEC7F3F-3C62-426A-BC8A-EC495FD6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Backyard Brains WAV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→ EMG RMS + change</a:t>
            </a:r>
          </a:p>
        </p:txBody>
      </p:sp>
      <p:sp>
        <p:nvSpPr>
          <p:cNvPr id="6" name="imu-box">
            <a:extLst xmlns:a="http://schemas.openxmlformats.org/drawingml/2006/main">
              <a:ext uri="{FF2B5EF4-FFF2-40B4-BE49-F238E27FC236}">
                <a16:creationId xmlns:a16="http://schemas.microsoft.com/office/drawing/2014/main" id="{D8DB7FCF-C736-4A71-A40B-A98AAA99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7185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mu-title">
            <a:extLst xmlns:a="http://schemas.openxmlformats.org/drawingml/2006/main">
              <a:ext uri="{FF2B5EF4-FFF2-40B4-BE49-F238E27FC236}">
                <a16:creationId xmlns:a16="http://schemas.microsoft.com/office/drawing/2014/main" id="{4EC55D91-77F8-4BFA-9A89-DE885A1A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AE6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AE60"/>
                </a:solidFill>
                <a:latin typeface="Arial"/>
                <a:ea typeface="Arial"/>
                <a:cs typeface="Arial"/>
              </a:rPr>
              <a:t>Phone IMU</a:t>
            </a:r>
          </a:p>
        </p:txBody>
      </p:sp>
      <p:sp>
        <p:nvSpPr>
          <p:cNvPr id="8" name="imu-copy">
            <a:extLst xmlns:a="http://schemas.openxmlformats.org/drawingml/2006/main">
              <a:ext uri="{FF2B5EF4-FFF2-40B4-BE49-F238E27FC236}">
                <a16:creationId xmlns:a16="http://schemas.microsoft.com/office/drawing/2014/main" id="{B90B9EFC-DCA5-482D-AC85-0B77914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Gyroscope + accelerometer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→ reps, speed, jerk</a:t>
            </a:r>
          </a:p>
        </p:txBody>
      </p:sp>
      <p:sp>
        <p:nvSpPr>
          <p:cNvPr id="9" name="arrow1">
            <a:extLst xmlns:a="http://schemas.openxmlformats.org/drawingml/2006/main">
              <a:ext uri="{FF2B5EF4-FFF2-40B4-BE49-F238E27FC236}">
                <a16:creationId xmlns:a16="http://schemas.microsoft.com/office/drawing/2014/main" id="{4D673AFF-0F6D-4D1F-99D5-EB550A8E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908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eatures">
            <a:extLst xmlns:a="http://schemas.openxmlformats.org/drawingml/2006/main">
              <a:ext uri="{FF2B5EF4-FFF2-40B4-BE49-F238E27FC236}">
                <a16:creationId xmlns:a16="http://schemas.microsoft.com/office/drawing/2014/main" id="{0BFAF7BE-1562-43A1-8691-F81FE758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eatures-title">
            <a:extLst xmlns:a="http://schemas.openxmlformats.org/drawingml/2006/main">
              <a:ext uri="{FF2B5EF4-FFF2-40B4-BE49-F238E27FC236}">
                <a16:creationId xmlns:a16="http://schemas.microsoft.com/office/drawing/2014/main" id="{C85F646E-F0D0-4D9E-9AD7-FEEBD456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Per-rep features</a:t>
            </a:r>
          </a:p>
        </p:txBody>
      </p:sp>
      <p:sp>
        <p:nvSpPr>
          <p:cNvPr id="12" name="features-copy">
            <a:extLst xmlns:a="http://schemas.openxmlformats.org/drawingml/2006/main">
              <a:ext uri="{FF2B5EF4-FFF2-40B4-BE49-F238E27FC236}">
                <a16:creationId xmlns:a16="http://schemas.microsoft.com/office/drawing/2014/main" id="{9666511C-A4D3-43CA-A07A-AB33975A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276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EMG RMS change</a:t>
            </a:r>
          </a:p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Peak angular velocity</a:t>
            </a:r>
          </a:p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Rep duration</a:t>
            </a:r>
          </a:p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Dynamic acceleration</a:t>
            </a:r>
          </a:p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Movement jerk</a:t>
            </a:r>
          </a:p>
        </p:txBody>
      </p:sp>
      <p:sp>
        <p:nvSpPr>
          <p:cNvPr id="13" name="arrow2">
            <a:extLst xmlns:a="http://schemas.openxmlformats.org/drawingml/2006/main">
              <a:ext uri="{FF2B5EF4-FFF2-40B4-BE49-F238E27FC236}">
                <a16:creationId xmlns:a16="http://schemas.microsoft.com/office/drawing/2014/main" id="{E8D584CE-55CE-4354-9417-F8202096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908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795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output">
            <a:extLst xmlns:a="http://schemas.openxmlformats.org/drawingml/2006/main">
              <a:ext uri="{FF2B5EF4-FFF2-40B4-BE49-F238E27FC236}">
                <a16:creationId xmlns:a16="http://schemas.microsoft.com/office/drawing/2014/main" id="{D696F832-2317-4CAE-B5B8-9E90B181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09750"/>
            <a:ext cx="2628900" cy="26670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B00777E0-88ED-4A6D-B799-DF9F5B44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9550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1405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Personalized output</a:t>
            </a:r>
          </a:p>
        </p:txBody>
      </p:sp>
      <p:sp>
        <p:nvSpPr>
          <p:cNvPr id="16" name="output-copy">
            <a:extLst xmlns:a="http://schemas.openxmlformats.org/drawingml/2006/main">
              <a:ext uri="{FF2B5EF4-FFF2-40B4-BE49-F238E27FC236}">
                <a16:creationId xmlns:a16="http://schemas.microsoft.com/office/drawing/2014/main" id="{55CD2257-A70F-4B85-BEEA-41F42112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81300"/>
            <a:ext cx="2133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Estimated RIR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Next-step recommendation</a:t>
            </a:r>
          </a:p>
        </p:txBody>
      </p:sp>
      <p:sp>
        <p:nvSpPr>
          <p:cNvPr id="17" name="sync">
            <a:extLst xmlns:a="http://schemas.openxmlformats.org/drawingml/2006/main">
              <a:ext uri="{FF2B5EF4-FFF2-40B4-BE49-F238E27FC236}">
                <a16:creationId xmlns:a16="http://schemas.microsoft.com/office/drawing/2014/main" id="{0D1446BD-8E47-46E0-9871-B25351D9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721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Separate recording clocks are aligned automatically before features are calculated.</a:t>
            </a:r>
          </a:p>
        </p:txBody>
      </p:sp>
    </p:spTree>
    <p:extLst>
      <p:ext uri="{BB962C8B-B14F-4D97-AF65-F5344CB8AC3E}">
        <p14:creationId xmlns:p14="http://schemas.microsoft.com/office/powerpoint/2010/main" val="5043418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881F97-7608-43FC-9630-3C3EA6F3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58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RIR turns sensor data into an actionable coaching signal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04885C-94C7-49A4-8FA6-DB63A327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definition">
            <a:extLst xmlns:a="http://schemas.openxmlformats.org/drawingml/2006/main">
              <a:ext uri="{FF2B5EF4-FFF2-40B4-BE49-F238E27FC236}">
                <a16:creationId xmlns:a16="http://schemas.microsoft.com/office/drawing/2014/main" id="{65BF6AE6-F981-478B-9981-54CADB57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RIR = how many additional good-form repetitions the person could still complete.</a:t>
            </a:r>
          </a:p>
        </p:txBody>
      </p:sp>
      <p:sp>
        <p:nvSpPr>
          <p:cNvPr id="4" name="decision-0">
            <a:extLst xmlns:a="http://schemas.openxmlformats.org/drawingml/2006/main">
              <a:ext uri="{FF2B5EF4-FFF2-40B4-BE49-F238E27FC236}">
                <a16:creationId xmlns:a16="http://schemas.microsoft.com/office/drawing/2014/main" id="{20F4FCC5-3C0D-41E2-BDB9-62710BA9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head-0">
            <a:extLst xmlns:a="http://schemas.openxmlformats.org/drawingml/2006/main">
              <a:ext uri="{FF2B5EF4-FFF2-40B4-BE49-F238E27FC236}">
                <a16:creationId xmlns:a16="http://schemas.microsoft.com/office/drawing/2014/main" id="{EA3991B1-2AE3-449F-8CA7-9E57A98D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7AE6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AE60"/>
                </a:solidFill>
                <a:latin typeface="Arial"/>
                <a:ea typeface="Arial"/>
                <a:cs typeface="Arial"/>
              </a:rPr>
              <a:t>MORE REPS</a:t>
            </a:r>
          </a:p>
        </p:txBody>
      </p:sp>
      <p:sp>
        <p:nvSpPr>
          <p:cNvPr id="6" name="decision-num-0">
            <a:extLst xmlns:a="http://schemas.openxmlformats.org/drawingml/2006/main">
              <a:ext uri="{FF2B5EF4-FFF2-40B4-BE49-F238E27FC236}">
                <a16:creationId xmlns:a16="http://schemas.microsoft.com/office/drawing/2014/main" id="{7120A84B-187F-4F9C-9457-16116B39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4+ RIR</a:t>
            </a:r>
          </a:p>
        </p:txBody>
      </p:sp>
      <p:sp>
        <p:nvSpPr>
          <p:cNvPr id="7" name="decision-body-0">
            <a:extLst xmlns:a="http://schemas.openxmlformats.org/drawingml/2006/main">
              <a:ext uri="{FF2B5EF4-FFF2-40B4-BE49-F238E27FC236}">
                <a16:creationId xmlns:a16="http://schemas.microsoft.com/office/drawing/2014/main" id="{80CF7D04-E4BF-43C6-89C2-54F987D9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66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Effort is still low.</a:t>
            </a:r>
          </a:p>
          <a:p xmlns:a="http://schemas.openxmlformats.org/drawingml/2006/main">
            <a:pPr algn="ctr"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Continue the set.</a:t>
            </a:r>
          </a:p>
        </p:txBody>
      </p:sp>
      <p:sp>
        <p:nvSpPr>
          <p:cNvPr id="8" name="decision-1">
            <a:extLst xmlns:a="http://schemas.openxmlformats.org/drawingml/2006/main">
              <a:ext uri="{FF2B5EF4-FFF2-40B4-BE49-F238E27FC236}">
                <a16:creationId xmlns:a16="http://schemas.microsoft.com/office/drawing/2014/main" id="{2B8F359B-9C3B-4C94-9F92-65686899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6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cision-head-1">
            <a:extLst xmlns:a="http://schemas.openxmlformats.org/drawingml/2006/main">
              <a:ext uri="{FF2B5EF4-FFF2-40B4-BE49-F238E27FC236}">
                <a16:creationId xmlns:a16="http://schemas.microsoft.com/office/drawing/2014/main" id="{813277F2-9D97-44F3-8342-C9BA495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A6A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9A6A00"/>
                </a:solidFill>
                <a:latin typeface="Arial"/>
                <a:ea typeface="Arial"/>
                <a:cs typeface="Arial"/>
              </a:rPr>
              <a:t>TARGET ZONE</a:t>
            </a:r>
          </a:p>
        </p:txBody>
      </p:sp>
      <p:sp>
        <p:nvSpPr>
          <p:cNvPr id="10" name="decision-num-1">
            <a:extLst xmlns:a="http://schemas.openxmlformats.org/drawingml/2006/main">
              <a:ext uri="{FF2B5EF4-FFF2-40B4-BE49-F238E27FC236}">
                <a16:creationId xmlns:a16="http://schemas.microsoft.com/office/drawing/2014/main" id="{3EDFF1EE-3351-49CD-8EEC-6EAA7BBB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146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1–3 RIR</a:t>
            </a:r>
          </a:p>
        </p:txBody>
      </p:sp>
      <p:sp>
        <p:nvSpPr>
          <p:cNvPr id="11" name="decision-body-1">
            <a:extLst xmlns:a="http://schemas.openxmlformats.org/drawingml/2006/main">
              <a:ext uri="{FF2B5EF4-FFF2-40B4-BE49-F238E27FC236}">
                <a16:creationId xmlns:a16="http://schemas.microsoft.com/office/drawing/2014/main" id="{7BEDC84F-C6A7-499D-8CD3-6E51A128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71900"/>
            <a:ext cx="266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Desired challenge.</a:t>
            </a:r>
          </a:p>
          <a:p xmlns:a="http://schemas.openxmlformats.org/drawingml/2006/main">
            <a:pPr algn="ctr"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Maintain the load.</a:t>
            </a:r>
          </a:p>
        </p:txBody>
      </p:sp>
      <p:sp>
        <p:nvSpPr>
          <p:cNvPr id="12" name="decision-2">
            <a:extLst xmlns:a="http://schemas.openxmlformats.org/drawingml/2006/main">
              <a:ext uri="{FF2B5EF4-FFF2-40B4-BE49-F238E27FC236}">
                <a16:creationId xmlns:a16="http://schemas.microsoft.com/office/drawing/2014/main" id="{8C32543C-EDB8-4E92-AECF-F9BBD809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cision-head-2">
            <a:extLst xmlns:a="http://schemas.openxmlformats.org/drawingml/2006/main">
              <a:ext uri="{FF2B5EF4-FFF2-40B4-BE49-F238E27FC236}">
                <a16:creationId xmlns:a16="http://schemas.microsoft.com/office/drawing/2014/main" id="{14EEF010-0699-46D8-80B7-17ED5987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STOP SET</a:t>
            </a:r>
          </a:p>
        </p:txBody>
      </p:sp>
      <p:sp>
        <p:nvSpPr>
          <p:cNvPr id="14" name="decision-num-2">
            <a:extLst xmlns:a="http://schemas.openxmlformats.org/drawingml/2006/main">
              <a:ext uri="{FF2B5EF4-FFF2-40B4-BE49-F238E27FC236}">
                <a16:creationId xmlns:a16="http://schemas.microsoft.com/office/drawing/2014/main" id="{0636AE6A-4435-47BD-BA5D-5A347860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0–1 RIR</a:t>
            </a:r>
          </a:p>
        </p:txBody>
      </p:sp>
      <p:sp>
        <p:nvSpPr>
          <p:cNvPr id="15" name="decision-body-2">
            <a:extLst xmlns:a="http://schemas.openxmlformats.org/drawingml/2006/main">
              <a:ext uri="{FF2B5EF4-FFF2-40B4-BE49-F238E27FC236}">
                <a16:creationId xmlns:a16="http://schemas.microsoft.com/office/drawing/2014/main" id="{AD132A64-BAC7-4B13-84B7-631F99B9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71900"/>
            <a:ext cx="2667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Near failure.</a:t>
            </a:r>
          </a:p>
          <a:p xmlns:a="http://schemas.openxmlformats.org/drawingml/2006/main">
            <a:pPr algn="ctr">
              <a:defRPr sz="18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End the set safely.</a:t>
            </a:r>
          </a:p>
        </p:txBody>
      </p:sp>
      <p:sp>
        <p:nvSpPr>
          <p:cNvPr id="16" name="load-rule">
            <a:extLst xmlns:a="http://schemas.openxmlformats.org/drawingml/2006/main">
              <a:ext uri="{FF2B5EF4-FFF2-40B4-BE49-F238E27FC236}">
                <a16:creationId xmlns:a16="http://schemas.microsoft.com/office/drawing/2014/main" id="{EDC04FAA-41ED-46C1-B774-181DFD7A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36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93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At the top of the target rep range with substantial RIR remaining → increase weight next session.</a:t>
            </a:r>
          </a:p>
        </p:txBody>
      </p:sp>
    </p:spTree>
    <p:extLst>
      <p:ext uri="{BB962C8B-B14F-4D97-AF65-F5344CB8AC3E}">
        <p14:creationId xmlns:p14="http://schemas.microsoft.com/office/powerpoint/2010/main" val="1019540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91B21B-51FB-4441-8FA2-6766B1CB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90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 first personalized prototype spans easy effort to failure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7360C2-6DAC-4E38-912D-E6A904F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95300" y="1428750"/>
          <a:ext xmlns:a="http://schemas.openxmlformats.org/drawingml/2006/main" cx="61912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286419e142403a"/>
          </a:graphicData>
        </a:graphic>
      </p:graphicFrame>
      <p:sp>
        <p:nvSpPr>
          <p:cNvPr id="4" name="stat-a">
            <a:extLst xmlns:a="http://schemas.openxmlformats.org/drawingml/2006/main">
              <a:ext uri="{FF2B5EF4-FFF2-40B4-BE49-F238E27FC236}">
                <a16:creationId xmlns:a16="http://schemas.microsoft.com/office/drawing/2014/main" id="{75C3E7C0-3C23-457C-8151-702CBAD3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000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t-a-num">
            <a:extLst xmlns:a="http://schemas.openxmlformats.org/drawingml/2006/main">
              <a:ext uri="{FF2B5EF4-FFF2-40B4-BE49-F238E27FC236}">
                <a16:creationId xmlns:a16="http://schemas.microsoft.com/office/drawing/2014/main" id="{0A8C636B-9AB1-4754-A138-89B9B39B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66875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812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stat-a-copy">
            <a:extLst xmlns:a="http://schemas.openxmlformats.org/drawingml/2006/main">
              <a:ext uri="{FF2B5EF4-FFF2-40B4-BE49-F238E27FC236}">
                <a16:creationId xmlns:a16="http://schemas.microsoft.com/office/drawing/2014/main" id="{2FEC4E2D-A68F-4C9C-B97C-82D79BFA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labeled repetitions</a:t>
            </a:r>
          </a:p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across 3 sets</a:t>
            </a:r>
          </a:p>
        </p:txBody>
      </p:sp>
      <p:sp>
        <p:nvSpPr>
          <p:cNvPr id="7" name="stat-b">
            <a:extLst xmlns:a="http://schemas.openxmlformats.org/drawingml/2006/main">
              <a:ext uri="{FF2B5EF4-FFF2-40B4-BE49-F238E27FC236}">
                <a16:creationId xmlns:a16="http://schemas.microsoft.com/office/drawing/2014/main" id="{485CF776-874A-42D7-9F68-54B5A342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4000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-b-num">
            <a:extLst xmlns:a="http://schemas.openxmlformats.org/drawingml/2006/main">
              <a:ext uri="{FF2B5EF4-FFF2-40B4-BE49-F238E27FC236}">
                <a16:creationId xmlns:a16="http://schemas.microsoft.com/office/drawing/2014/main" id="{56E213BA-6327-4847-B891-584E6D29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7182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127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±1.72</a:t>
            </a:r>
          </a:p>
        </p:txBody>
      </p:sp>
      <p:sp>
        <p:nvSpPr>
          <p:cNvPr id="9" name="stat-b-copy">
            <a:extLst xmlns:a="http://schemas.openxmlformats.org/drawingml/2006/main">
              <a:ext uri="{FF2B5EF4-FFF2-40B4-BE49-F238E27FC236}">
                <a16:creationId xmlns:a16="http://schemas.microsoft.com/office/drawing/2014/main" id="{55858109-515D-4AC9-B6C4-274E366A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813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398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RIR group-validation</a:t>
            </a:r>
          </a:p>
          <a:p xmlns:a="http://schemas.openxmlformats.org/drawingml/2006/main">
            <a:pPr algn="l">
              <a:defRPr sz="172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mean error</a:t>
            </a:r>
          </a:p>
        </p:txBody>
      </p:sp>
      <p:sp>
        <p:nvSpPr>
          <p:cNvPr id="10" name="caveat">
            <a:extLst xmlns:a="http://schemas.openxmlformats.org/drawingml/2006/main">
              <a:ext uri="{FF2B5EF4-FFF2-40B4-BE49-F238E27FC236}">
                <a16:creationId xmlns:a16="http://schemas.microsoft.com/office/drawing/2014/main" id="{542B8C5E-B67A-4161-B841-61DBAF14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14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Promising first pass—not yet independent validation or a medical device.</a:t>
            </a:r>
          </a:p>
        </p:txBody>
      </p:sp>
    </p:spTree>
    <p:extLst>
      <p:ext uri="{BB962C8B-B14F-4D97-AF65-F5344CB8AC3E}">
        <p14:creationId xmlns:p14="http://schemas.microsoft.com/office/powerpoint/2010/main" val="1389836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5E1788A0-B41A-4224-8664-B67C8F4C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83EB6EE-24E8-4FAB-A9C5-159CBB25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Validate first.</a:t>
            </a:r>
          </a:p>
          <a:p xmlns:a="http://schemas.openxmlformats.org/drawingml/2006/main">
            <a:pPr algn="l">
              <a:defRPr sz="54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Then coach live.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6F36B8E5-D0E4-4149-8E73-09328158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7334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Run a new 15-lb set stopped at 1–2 RIR without retraining the model. Compare predicted vs. reported RIR, then connect the validated output to the dashboard.</a:t>
            </a:r>
          </a:p>
        </p:txBody>
      </p:sp>
      <p:sp>
        <p:nvSpPr>
          <p:cNvPr id="4" name="goal">
            <a:extLst xmlns:a="http://schemas.openxmlformats.org/drawingml/2006/main">
              <a:ext uri="{FF2B5EF4-FFF2-40B4-BE49-F238E27FC236}">
                <a16:creationId xmlns:a16="http://schemas.microsoft.com/office/drawing/2014/main" id="{67F6B8D4-C3D0-4510-AB32-DCE21D84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43000"/>
            <a:ext cx="3124200" cy="40005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oal-head">
            <a:extLst xmlns:a="http://schemas.openxmlformats.org/drawingml/2006/main">
              <a:ext uri="{FF2B5EF4-FFF2-40B4-BE49-F238E27FC236}">
                <a16:creationId xmlns:a16="http://schemas.microsoft.com/office/drawing/2014/main" id="{A195268A-BF78-48B2-8DDD-365F4E89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24000"/>
            <a:ext cx="251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experience</a:t>
            </a:r>
          </a:p>
        </p:txBody>
      </p:sp>
      <p:sp>
        <p:nvSpPr>
          <p:cNvPr id="6" name="goal-copy">
            <a:extLst xmlns:a="http://schemas.openxmlformats.org/drawingml/2006/main">
              <a:ext uri="{FF2B5EF4-FFF2-40B4-BE49-F238E27FC236}">
                <a16:creationId xmlns:a16="http://schemas.microsoft.com/office/drawing/2014/main" id="{E1E0FF1F-63D8-4587-AF0C-16624935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66950"/>
            <a:ext cx="25146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639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Estimated RIR: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ZONE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Maintain 15 lb</a:t>
            </a:r>
          </a:p>
        </p:txBody>
      </p:sp>
      <p:sp>
        <p:nvSpPr>
          <p:cNvPr id="7" name="close-line">
            <a:extLst xmlns:a="http://schemas.openxmlformats.org/drawingml/2006/main">
              <a:ext uri="{FF2B5EF4-FFF2-40B4-BE49-F238E27FC236}">
                <a16:creationId xmlns:a16="http://schemas.microsoft.com/office/drawing/2014/main" id="{44FB76D1-7B7F-436D-8098-D2D20607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95950"/>
            <a:ext cx="733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Measure effort—not just repetitions.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FBAA24-61EE-4494-98E1-1EB90DA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3064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2026-08-23T03:34:47.9740000Z</dcterms:created>
  <dcterms:modified xsi:type="dcterms:W3CDTF">2026-08-23T03:34:47.9740000Z</dcterms:modified>
</coreProperties>
</file>